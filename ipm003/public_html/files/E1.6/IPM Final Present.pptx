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6" r:id="rId3"/>
    <p:sldId id="257" r:id="rId4"/>
    <p:sldId id="258" r:id="rId5"/>
    <p:sldId id="265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9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0" d="100"/>
          <a:sy n="200" d="100"/>
        </p:scale>
        <p:origin x="2430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46F5D14B-214E-986D-387E-64E8B604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DEAF7831-4561-3542-629C-A3EAD5448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99942DE2-3B92-7D00-59C8-C4402D16A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626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860e352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4860e352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4860e352b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4860e352b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Icones pouco Intuitivos , mudar de circular para retangulares na base, tirar os desafios na pagina inicial.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6C5D0D44-6AFE-5C76-7FE0-D617B79F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8810555f_0_7:notes">
            <a:extLst>
              <a:ext uri="{FF2B5EF4-FFF2-40B4-BE49-F238E27FC236}">
                <a16:creationId xmlns:a16="http://schemas.microsoft.com/office/drawing/2014/main" id="{AECE2335-397A-8420-17FA-7123099F0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58810555f_0_7:notes">
            <a:extLst>
              <a:ext uri="{FF2B5EF4-FFF2-40B4-BE49-F238E27FC236}">
                <a16:creationId xmlns:a16="http://schemas.microsoft.com/office/drawing/2014/main" id="{4442E251-289A-D222-EE55-1DDB08CD5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062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8810555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58810555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58810555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58810555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8810555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58810555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4860e352b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4860e352b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58810555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58810555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9CAB8944-9025-92A9-4FB1-F20610B9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58810555f_0_1:notes">
            <a:extLst>
              <a:ext uri="{FF2B5EF4-FFF2-40B4-BE49-F238E27FC236}">
                <a16:creationId xmlns:a16="http://schemas.microsoft.com/office/drawing/2014/main" id="{CD371441-71DB-67BA-C2FA-DABCB82E37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58810555f_0_1:notes">
            <a:extLst>
              <a:ext uri="{FF2B5EF4-FFF2-40B4-BE49-F238E27FC236}">
                <a16:creationId xmlns:a16="http://schemas.microsoft.com/office/drawing/2014/main" id="{4CAC317C-2480-41D9-C590-5AE64BDDD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547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27DFD3D2-001C-9B62-D417-A04F2408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C63B4FEC-9BF7-9A80-396A-A4F75F287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154609C3-A696-ADC1-938C-4235AC414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847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2969EC4-C031-3638-DB1D-4270B569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>
            <a:extLst>
              <a:ext uri="{FF2B5EF4-FFF2-40B4-BE49-F238E27FC236}">
                <a16:creationId xmlns:a16="http://schemas.microsoft.com/office/drawing/2014/main" id="{F37C5DFE-DF48-0C5F-FDA4-0AF7BC2B1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>
            <a:extLst>
              <a:ext uri="{FF2B5EF4-FFF2-40B4-BE49-F238E27FC236}">
                <a16:creationId xmlns:a16="http://schemas.microsoft.com/office/drawing/2014/main" id="{5CE3AED6-D108-F640-21D5-865422E7F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752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6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8.jpeg"/><Relationship Id="rId4" Type="http://schemas.openxmlformats.org/officeDocument/2006/relationships/image" Target="../media/image9.jpeg"/><Relationship Id="rId9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2.mp4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video" Target="../media/media2.mp4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8"/>
            <a:ext cx="9144000" cy="5142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74B9AB6-26E0-26FF-8F84-505D1F39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>
            <a:extLst>
              <a:ext uri="{FF2B5EF4-FFF2-40B4-BE49-F238E27FC236}">
                <a16:creationId xmlns:a16="http://schemas.microsoft.com/office/drawing/2014/main" id="{640DF1EC-4D0C-2B17-C36A-0A0A4102E6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GreenWay</a:t>
            </a:r>
            <a:endParaRPr dirty="0"/>
          </a:p>
        </p:txBody>
      </p:sp>
      <p:sp>
        <p:nvSpPr>
          <p:cNvPr id="135" name="Google Shape;135;p13">
            <a:extLst>
              <a:ext uri="{FF2B5EF4-FFF2-40B4-BE49-F238E27FC236}">
                <a16:creationId xmlns:a16="http://schemas.microsoft.com/office/drawing/2014/main" id="{190ED1E6-6944-3B15-AB5B-C17AB6E80C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Rodrigo Osório de Castro 56315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Martim Neto 56279</a:t>
            </a:r>
            <a:endParaRPr dirty="0"/>
          </a:p>
        </p:txBody>
      </p:sp>
      <p:pic>
        <p:nvPicPr>
          <p:cNvPr id="3" name="Imagem 2" descr="Uma imagem com Gráficos, design gráfico, design, arte&#10;&#10;Os conteúdos gerados por IA podem estar incorretos.">
            <a:extLst>
              <a:ext uri="{FF2B5EF4-FFF2-40B4-BE49-F238E27FC236}">
                <a16:creationId xmlns:a16="http://schemas.microsoft.com/office/drawing/2014/main" id="{C99A0FA8-8CD9-B495-EC50-E85F9444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05" y="395654"/>
            <a:ext cx="2558562" cy="255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02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754650" y="1751550"/>
            <a:ext cx="76347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Fácil: Ver transportes públicos perto de si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Média: Criar uma rota multimodal onde o utilizador seleciona o destino e recebe uma rota que combina vários meios de transporte sustentáveis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Dificil: Começar desafios de mobilidade com amigos onde o utilizador pode convidar amigos, seleccionar objetivos, impor restrições, etc…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2" name="Google Shape;142;p14"/>
          <p:cNvCxnSpPr/>
          <p:nvPr/>
        </p:nvCxnSpPr>
        <p:spPr>
          <a:xfrm>
            <a:off x="680800" y="1984225"/>
            <a:ext cx="5795700" cy="600"/>
          </a:xfrm>
          <a:prstGeom prst="straightConnector1">
            <a:avLst/>
          </a:prstGeom>
          <a:noFill/>
          <a:ln w="566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" name="Google Shape;143;p14"/>
          <p:cNvSpPr txBox="1"/>
          <p:nvPr/>
        </p:nvSpPr>
        <p:spPr>
          <a:xfrm>
            <a:off x="769350" y="1744638"/>
            <a:ext cx="4200000" cy="44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Fácil Ver troféus/crachás ganhos 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1449900" y="546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Tarefas Iniciais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P</a:t>
            </a:r>
            <a:r>
              <a:rPr lang="en"/>
              <a:t>rototipo de </a:t>
            </a:r>
            <a:r>
              <a:rPr lang="en">
                <a:solidFill>
                  <a:srgbClr val="00FFFF"/>
                </a:solidFill>
              </a:rPr>
              <a:t>B</a:t>
            </a:r>
            <a:r>
              <a:rPr lang="en"/>
              <a:t>aixa </a:t>
            </a:r>
            <a:r>
              <a:rPr lang="en">
                <a:solidFill>
                  <a:srgbClr val="00FFFF"/>
                </a:solidFill>
              </a:rPr>
              <a:t>F</a:t>
            </a:r>
            <a:r>
              <a:rPr lang="en"/>
              <a:t>idelidade</a:t>
            </a:r>
            <a:endParaRPr/>
          </a:p>
        </p:txBody>
      </p:sp>
      <p:pic>
        <p:nvPicPr>
          <p:cNvPr id="150" name="Google Shape;150;p15" title="pbf1.jfif"/>
          <p:cNvPicPr preferRelativeResize="0"/>
          <p:nvPr/>
        </p:nvPicPr>
        <p:blipFill rotWithShape="1">
          <a:blip r:embed="rId3">
            <a:alphaModFix/>
          </a:blip>
          <a:srcRect t="12900" b="3654"/>
          <a:stretch/>
        </p:blipFill>
        <p:spPr>
          <a:xfrm rot="-5400000">
            <a:off x="772787" y="1213588"/>
            <a:ext cx="2801925" cy="41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title="pbf2.jfif"/>
          <p:cNvPicPr preferRelativeResize="0"/>
          <p:nvPr/>
        </p:nvPicPr>
        <p:blipFill rotWithShape="1">
          <a:blip r:embed="rId4">
            <a:alphaModFix/>
          </a:blip>
          <a:srcRect t="4810" b="3378"/>
          <a:stretch/>
        </p:blipFill>
        <p:spPr>
          <a:xfrm rot="-5400000">
            <a:off x="5304276" y="1064100"/>
            <a:ext cx="2729724" cy="445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8653439E-FE7C-6310-85F5-FFEC6048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D4544ABE-3767-93F7-22DF-CB9283E80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P</a:t>
            </a:r>
            <a:r>
              <a:rPr lang="en"/>
              <a:t>rototipo </a:t>
            </a:r>
            <a:r>
              <a:rPr lang="en">
                <a:solidFill>
                  <a:srgbClr val="00FFFF"/>
                </a:solidFill>
              </a:rPr>
              <a:t>F</a:t>
            </a:r>
            <a:r>
              <a:rPr lang="en"/>
              <a:t>uncional </a:t>
            </a:r>
            <a:r>
              <a:rPr lang="en">
                <a:solidFill>
                  <a:srgbClr val="00FFFF"/>
                </a:solidFill>
              </a:rPr>
              <a:t>1</a:t>
            </a:r>
            <a:endParaRPr>
              <a:solidFill>
                <a:srgbClr val="00FFFF"/>
              </a:solidFill>
            </a:endParaRPr>
          </a:p>
        </p:txBody>
      </p:sp>
      <p:pic>
        <p:nvPicPr>
          <p:cNvPr id="4" name="Imagem 3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302BF95A-73F0-AAFF-9810-61D07B671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849" y="1307850"/>
            <a:ext cx="1630796" cy="3628736"/>
          </a:xfrm>
          <a:prstGeom prst="rect">
            <a:avLst/>
          </a:prstGeom>
        </p:spPr>
      </p:pic>
      <p:pic>
        <p:nvPicPr>
          <p:cNvPr id="10" name="Imagem 9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6E9017A1-CCBF-1D2C-D73F-A728E727B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7" y="1307850"/>
            <a:ext cx="1644004" cy="3628736"/>
          </a:xfrm>
          <a:prstGeom prst="rect">
            <a:avLst/>
          </a:prstGeom>
        </p:spPr>
      </p:pic>
      <p:pic>
        <p:nvPicPr>
          <p:cNvPr id="12" name="Imagem 11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63B43713-A9D1-8F59-174F-CD9F988BE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882" y="1307847"/>
            <a:ext cx="1635486" cy="3628736"/>
          </a:xfrm>
          <a:prstGeom prst="rect">
            <a:avLst/>
          </a:prstGeom>
        </p:spPr>
      </p:pic>
      <p:pic>
        <p:nvPicPr>
          <p:cNvPr id="14" name="Imagem 13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AFC3EB30-58B1-A62D-0B63-B66E1FD59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4" y="1307847"/>
            <a:ext cx="1630796" cy="3628736"/>
          </a:xfrm>
          <a:prstGeom prst="rect">
            <a:avLst/>
          </a:prstGeom>
        </p:spPr>
      </p:pic>
      <p:pic>
        <p:nvPicPr>
          <p:cNvPr id="15" name="Imagem 14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0DB33C35-F02C-212D-3B33-39ED9FC79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9289" y="3877408"/>
            <a:ext cx="474332" cy="1059175"/>
          </a:xfrm>
          <a:prstGeom prst="rect">
            <a:avLst/>
          </a:prstGeom>
        </p:spPr>
      </p:pic>
      <p:pic>
        <p:nvPicPr>
          <p:cNvPr id="16" name="Imagem 15" descr="Uma imagem com texto, captura de ecrã, software, Sistema operativo&#10;&#10;Os conteúdos gerados por IA podem estar incorretos.">
            <a:extLst>
              <a:ext uri="{FF2B5EF4-FFF2-40B4-BE49-F238E27FC236}">
                <a16:creationId xmlns:a16="http://schemas.microsoft.com/office/drawing/2014/main" id="{529F7FE3-17A5-6C8A-66BD-48AA0DCBE3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0873" y="3877411"/>
            <a:ext cx="478376" cy="1059172"/>
          </a:xfrm>
          <a:prstGeom prst="rect">
            <a:avLst/>
          </a:prstGeom>
        </p:spPr>
      </p:pic>
      <p:pic>
        <p:nvPicPr>
          <p:cNvPr id="17" name="Imagem 16" descr="Uma imagem com texto, captura de ecrã, mapa&#10;&#10;Os conteúdos gerados por IA podem estar incorretos.">
            <a:extLst>
              <a:ext uri="{FF2B5EF4-FFF2-40B4-BE49-F238E27FC236}">
                <a16:creationId xmlns:a16="http://schemas.microsoft.com/office/drawing/2014/main" id="{F63C2CD8-A2EF-93F8-10D3-224BA9802C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0001" y="3877410"/>
            <a:ext cx="476565" cy="1059173"/>
          </a:xfrm>
          <a:prstGeom prst="rect">
            <a:avLst/>
          </a:prstGeom>
        </p:spPr>
      </p:pic>
      <p:pic>
        <p:nvPicPr>
          <p:cNvPr id="18" name="Imagem 17" descr="Uma imagem com texto, mapa, captura de ecrã, atlas&#10;&#10;Os conteúdos gerados por IA podem estar incorretos.">
            <a:extLst>
              <a:ext uri="{FF2B5EF4-FFF2-40B4-BE49-F238E27FC236}">
                <a16:creationId xmlns:a16="http://schemas.microsoft.com/office/drawing/2014/main" id="{EB866492-092A-0E8C-46FF-27499A39BA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5438" y="3877408"/>
            <a:ext cx="478498" cy="105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54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D82A0832-6E2D-1E2B-76DC-0FE14CCEC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779289" y="3877407"/>
            <a:ext cx="479861" cy="1059176"/>
          </a:xfrm>
          <a:prstGeom prst="rect">
            <a:avLst/>
          </a:prstGeom>
        </p:spPr>
      </p:pic>
      <p:sp>
        <p:nvSpPr>
          <p:cNvPr id="156" name="Google Shape;156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P</a:t>
            </a:r>
            <a:r>
              <a:rPr lang="en"/>
              <a:t>rototipo </a:t>
            </a:r>
            <a:r>
              <a:rPr lang="en">
                <a:solidFill>
                  <a:srgbClr val="00FFFF"/>
                </a:solidFill>
              </a:rPr>
              <a:t>F</a:t>
            </a:r>
            <a:r>
              <a:rPr lang="en"/>
              <a:t>uncional </a:t>
            </a:r>
            <a:r>
              <a:rPr lang="en">
                <a:solidFill>
                  <a:srgbClr val="00FFFF"/>
                </a:solidFill>
              </a:rPr>
              <a:t>1</a:t>
            </a:r>
            <a:endParaRPr>
              <a:solidFill>
                <a:srgbClr val="00FFFF"/>
              </a:solidFill>
            </a:endParaRPr>
          </a:p>
        </p:txBody>
      </p:sp>
      <p:pic>
        <p:nvPicPr>
          <p:cNvPr id="3" name="Imagem 2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1F5B0D49-CFB4-D677-2F58-F1EF38E4A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40" y="1307847"/>
            <a:ext cx="1625061" cy="3628736"/>
          </a:xfrm>
          <a:prstGeom prst="rect">
            <a:avLst/>
          </a:prstGeom>
        </p:spPr>
      </p:pic>
      <p:pic>
        <p:nvPicPr>
          <p:cNvPr id="5" name="Imagem 4" descr="Uma imagem com texto, captura de ecrã, software, Sistema operativo&#10;&#10;Os conteúdos gerados por IA podem estar incorretos.">
            <a:extLst>
              <a:ext uri="{FF2B5EF4-FFF2-40B4-BE49-F238E27FC236}">
                <a16:creationId xmlns:a16="http://schemas.microsoft.com/office/drawing/2014/main" id="{8D6547FD-D092-0D36-6B88-7381E5A37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124" y="1307847"/>
            <a:ext cx="1638922" cy="3628736"/>
          </a:xfrm>
          <a:prstGeom prst="rect">
            <a:avLst/>
          </a:prstGeom>
        </p:spPr>
      </p:pic>
      <p:pic>
        <p:nvPicPr>
          <p:cNvPr id="7" name="Imagem 6" descr="Uma imagem com texto, captura de ecrã, mapa&#10;&#10;Os conteúdos gerados por IA podem estar incorretos.">
            <a:extLst>
              <a:ext uri="{FF2B5EF4-FFF2-40B4-BE49-F238E27FC236}">
                <a16:creationId xmlns:a16="http://schemas.microsoft.com/office/drawing/2014/main" id="{5A796CC3-477E-CB8F-5A39-3C285F001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169" y="1307847"/>
            <a:ext cx="1632718" cy="3628737"/>
          </a:xfrm>
          <a:prstGeom prst="rect">
            <a:avLst/>
          </a:prstGeom>
        </p:spPr>
      </p:pic>
      <p:pic>
        <p:nvPicPr>
          <p:cNvPr id="9" name="Imagem 8" descr="Uma imagem com texto, mapa, captura de ecrã, atlas&#10;&#10;Os conteúdos gerados por IA podem estar incorretos.">
            <a:extLst>
              <a:ext uri="{FF2B5EF4-FFF2-40B4-BE49-F238E27FC236}">
                <a16:creationId xmlns:a16="http://schemas.microsoft.com/office/drawing/2014/main" id="{413F6C0D-78A0-1528-345A-2017873D6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5618" y="1307847"/>
            <a:ext cx="1639335" cy="3628737"/>
          </a:xfrm>
          <a:prstGeom prst="rect">
            <a:avLst/>
          </a:prstGeom>
        </p:spPr>
      </p:pic>
      <p:pic>
        <p:nvPicPr>
          <p:cNvPr id="14" name="Imagem 13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205F07B5-82A9-BE18-CC4A-B8C8EBC079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8020" y="3877407"/>
            <a:ext cx="476007" cy="1059179"/>
          </a:xfrm>
          <a:prstGeom prst="rect">
            <a:avLst/>
          </a:prstGeom>
        </p:spPr>
      </p:pic>
      <p:pic>
        <p:nvPicPr>
          <p:cNvPr id="15" name="Imagem 14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5D9AD587-3406-690C-3CEF-DE94C023BC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2065" y="3877407"/>
            <a:ext cx="477375" cy="1059176"/>
          </a:xfrm>
          <a:prstGeom prst="rect">
            <a:avLst/>
          </a:prstGeom>
        </p:spPr>
      </p:pic>
      <p:pic>
        <p:nvPicPr>
          <p:cNvPr id="16" name="Imagem 15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F0A6ACD5-9621-F16B-9E3E-141AE9ECAB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31" y="3877407"/>
            <a:ext cx="476077" cy="1059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Novas Tarefas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06400" indent="-285750">
              <a:buSzPts val="1700"/>
            </a:pPr>
            <a:r>
              <a:rPr lang="en" sz="1700" dirty="0"/>
              <a:t>Modo Noturno</a:t>
            </a:r>
          </a:p>
          <a:p>
            <a:pPr marL="406400" indent="-285750">
              <a:buSzPts val="1700"/>
            </a:pPr>
            <a:endParaRPr lang="en" sz="1700" dirty="0"/>
          </a:p>
          <a:p>
            <a:pPr marL="406400" indent="-285750">
              <a:buSzPts val="1700"/>
            </a:pPr>
            <a:endParaRPr lang="en" sz="1700" dirty="0"/>
          </a:p>
          <a:p>
            <a:pPr marL="406400" indent="-285750">
              <a:buSzPts val="1700"/>
            </a:pPr>
            <a:r>
              <a:rPr lang="en-US" sz="1700" dirty="0" err="1"/>
              <a:t>Estatisticas</a:t>
            </a:r>
            <a:r>
              <a:rPr lang="en-US" sz="1700" dirty="0"/>
              <a:t> do </a:t>
            </a:r>
            <a:r>
              <a:rPr lang="en-US" sz="1700" dirty="0" err="1"/>
              <a:t>Utilizador</a:t>
            </a:r>
            <a:endParaRPr lang="en-US" sz="1700" dirty="0"/>
          </a:p>
          <a:p>
            <a:pPr marL="406400" indent="-285750">
              <a:buSzPts val="1700"/>
            </a:pPr>
            <a:endParaRPr lang="en-US" sz="1700" dirty="0"/>
          </a:p>
          <a:p>
            <a:pPr marL="406400" indent="-285750">
              <a:buSzPts val="1700"/>
            </a:pPr>
            <a:endParaRPr lang="en-US" sz="1700" dirty="0"/>
          </a:p>
          <a:p>
            <a:pPr marL="406400" indent="-285750">
              <a:buSzPts val="1700"/>
            </a:pPr>
            <a:r>
              <a:rPr lang="en-US" sz="1700" dirty="0"/>
              <a:t>Eco Goals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P</a:t>
            </a:r>
            <a:r>
              <a:rPr lang="en"/>
              <a:t>rototipo </a:t>
            </a:r>
            <a:r>
              <a:rPr lang="en">
                <a:solidFill>
                  <a:srgbClr val="00FFFF"/>
                </a:solidFill>
              </a:rPr>
              <a:t>F</a:t>
            </a:r>
            <a:r>
              <a:rPr lang="en"/>
              <a:t>uncional Final</a:t>
            </a:r>
            <a:endParaRPr/>
          </a:p>
        </p:txBody>
      </p:sp>
      <p:pic>
        <p:nvPicPr>
          <p:cNvPr id="2" name="bandicam 2025-11-18 18-01-24-385">
            <a:hlinkClick r:id="" action="ppaction://media"/>
            <a:extLst>
              <a:ext uri="{FF2B5EF4-FFF2-40B4-BE49-F238E27FC236}">
                <a16:creationId xmlns:a16="http://schemas.microsoft.com/office/drawing/2014/main" id="{C6DC91B6-AB00-91DC-0AD2-A3F26827FC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02115" y="1512277"/>
            <a:ext cx="3809142" cy="3118146"/>
          </a:xfrm>
          <a:prstGeom prst="rect">
            <a:avLst/>
          </a:prstGeom>
        </p:spPr>
      </p:pic>
      <p:pic>
        <p:nvPicPr>
          <p:cNvPr id="3" name="WhatsApp Video 2025-11-18 at 18.29.55">
            <a:hlinkClick r:id="" action="ppaction://media"/>
            <a:extLst>
              <a:ext uri="{FF2B5EF4-FFF2-40B4-BE49-F238E27FC236}">
                <a16:creationId xmlns:a16="http://schemas.microsoft.com/office/drawing/2014/main" id="{E15C4127-BA28-2197-F9F0-EC0A0D6EE00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91243" y="342849"/>
            <a:ext cx="1997430" cy="4447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1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985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Visão Futura</a:t>
            </a:r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1"/>
          </p:nvPr>
        </p:nvSpPr>
        <p:spPr>
          <a:xfrm>
            <a:off x="990925" y="14767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" sz="1500" b="1" dirty="0">
                <a:latin typeface="Arial"/>
                <a:ea typeface="Arial"/>
                <a:cs typeface="Arial"/>
                <a:sym typeface="Arial"/>
              </a:rPr>
              <a:t>Personalização e Acessibilidade</a:t>
            </a:r>
            <a:endParaRPr sz="15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Perfis adaptáveis para: caminhantes, ciclistas e utilizadores de transportes sustentáveis.</a:t>
            </a:r>
            <a:br>
              <a:rPr lang="en" sz="1500" dirty="0">
                <a:latin typeface="Arial"/>
                <a:ea typeface="Arial"/>
                <a:cs typeface="Arial"/>
                <a:sym typeface="Arial"/>
              </a:rPr>
            </a:b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Sugestões personalizadas de acordo com saúde, idade, objetivos e mobilidade.</a:t>
            </a:r>
            <a:br>
              <a:rPr lang="en" sz="1500" dirty="0">
                <a:latin typeface="Arial"/>
                <a:ea typeface="Arial"/>
                <a:cs typeface="Arial"/>
                <a:sym typeface="Arial"/>
              </a:rPr>
            </a:b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Modo acessível para utilizadores com diferentes necessidades.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Google Shape;179;p20">
            <a:extLst>
              <a:ext uri="{FF2B5EF4-FFF2-40B4-BE49-F238E27FC236}">
                <a16:creationId xmlns:a16="http://schemas.microsoft.com/office/drawing/2014/main" id="{40AA1337-DCB7-69F4-4BCA-0B60714EED5A}"/>
              </a:ext>
            </a:extLst>
          </p:cNvPr>
          <p:cNvSpPr txBox="1">
            <a:spLocks/>
          </p:cNvSpPr>
          <p:nvPr/>
        </p:nvSpPr>
        <p:spPr>
          <a:xfrm>
            <a:off x="241131" y="4229400"/>
            <a:ext cx="3126323" cy="175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2.     Sustentabilidade Real: Impacto no Mundo</a:t>
            </a:r>
          </a:p>
          <a:p>
            <a:pPr indent="-323850">
              <a:spcBef>
                <a:spcPts val="1200"/>
              </a:spcBef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Cada conquista ou objetivo cumprido pode converter-se em </a:t>
            </a: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pontos verdes</a:t>
            </a: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, que podem ser usados para: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lvl="1" indent="-323850">
              <a:buSzPts val="1500"/>
              <a:buFont typeface="Arial"/>
              <a:buChar char="○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Plantação automática de árvores através de ONGs parceiras.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lvl="1" indent="-323850">
              <a:buSzPts val="1500"/>
              <a:buFont typeface="Arial"/>
              <a:buChar char="○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Apoio a projetos ambientais locais.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indent="-298450">
              <a:buSzPts val="11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Medição da </a:t>
            </a: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redução real de CO₂</a:t>
            </a: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 com feedback visual simples.</a:t>
            </a:r>
            <a:br>
              <a:rPr lang="pt-BR" sz="800" dirty="0">
                <a:latin typeface="Arial"/>
                <a:ea typeface="Arial"/>
                <a:cs typeface="Arial"/>
                <a:sym typeface="Arial"/>
              </a:rPr>
            </a:br>
            <a:endParaRPr lang="pt-BR" sz="8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pt-BR" dirty="0"/>
          </a:p>
        </p:txBody>
      </p:sp>
      <p:sp>
        <p:nvSpPr>
          <p:cNvPr id="4" name="Google Shape;179;p20">
            <a:extLst>
              <a:ext uri="{FF2B5EF4-FFF2-40B4-BE49-F238E27FC236}">
                <a16:creationId xmlns:a16="http://schemas.microsoft.com/office/drawing/2014/main" id="{ABE31981-9638-6CAF-09E5-07BDC8896D79}"/>
              </a:ext>
            </a:extLst>
          </p:cNvPr>
          <p:cNvSpPr txBox="1">
            <a:spLocks/>
          </p:cNvSpPr>
          <p:nvPr/>
        </p:nvSpPr>
        <p:spPr>
          <a:xfrm>
            <a:off x="4713002" y="4229400"/>
            <a:ext cx="4066617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pt-BR" sz="400" b="1" dirty="0"/>
              <a:t>3. Assistente Pessoal de Sustentabilidade (GreenAI)</a:t>
            </a:r>
          </a:p>
          <a:p>
            <a:pPr marL="146050" indent="0">
              <a:buFont typeface="Lato"/>
              <a:buNone/>
            </a:pPr>
            <a:endParaRPr lang="pt-BR" sz="400" b="1" dirty="0"/>
          </a:p>
          <a:p>
            <a:r>
              <a:rPr lang="pt-BR" sz="400" dirty="0"/>
              <a:t>Um assistente dentro da app que:</a:t>
            </a:r>
          </a:p>
          <a:p>
            <a:r>
              <a:rPr lang="pt-BR" sz="400" dirty="0"/>
              <a:t>Analisa os teus hábitos de mobilidade.</a:t>
            </a:r>
          </a:p>
          <a:p>
            <a:r>
              <a:rPr lang="pt-BR" sz="400" dirty="0"/>
              <a:t>Sugere rotas, horários e modos de transporte com </a:t>
            </a:r>
            <a:r>
              <a:rPr lang="pt-BR" sz="400" b="1" dirty="0"/>
              <a:t>menor impacto ambiental</a:t>
            </a:r>
            <a:r>
              <a:rPr lang="pt-BR" sz="400" dirty="0"/>
              <a:t>.</a:t>
            </a:r>
          </a:p>
          <a:p>
            <a:r>
              <a:rPr lang="pt-BR" sz="400" dirty="0"/>
              <a:t>Dá dicas personalizadas (ex.: “Se fores de bicicleta hoje, reduces 230g de CO₂”).</a:t>
            </a:r>
          </a:p>
          <a:p>
            <a:pPr marL="158750" indent="0">
              <a:buSzPts val="1100"/>
              <a:buFont typeface="Lato"/>
              <a:buNone/>
            </a:pPr>
            <a:endParaRPr lang="pt-BR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Visão Futura</a:t>
            </a:r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990925" y="14767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Arial"/>
                <a:ea typeface="Arial"/>
                <a:cs typeface="Arial"/>
                <a:sym typeface="Arial"/>
              </a:rPr>
              <a:t>2.     Sustentabilidade Real: Impacto no Mundo</a:t>
            </a:r>
            <a:endParaRPr sz="15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Cada conquista ou objetivo cumprido pode converter-se em </a:t>
            </a:r>
            <a:r>
              <a:rPr lang="en" sz="1500" b="1" dirty="0">
                <a:latin typeface="Arial"/>
                <a:ea typeface="Arial"/>
                <a:cs typeface="Arial"/>
                <a:sym typeface="Arial"/>
              </a:rPr>
              <a:t>pontos verdes</a:t>
            </a: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, que podem ser usados para:</a:t>
            </a:r>
            <a:br>
              <a:rPr lang="en" sz="1500" dirty="0">
                <a:latin typeface="Arial"/>
                <a:ea typeface="Arial"/>
                <a:cs typeface="Arial"/>
                <a:sym typeface="Arial"/>
              </a:rPr>
            </a:b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Plantação automática de árvores através de ONGs parceiras.</a:t>
            </a:r>
            <a:br>
              <a:rPr lang="en" sz="1500" dirty="0">
                <a:latin typeface="Arial"/>
                <a:ea typeface="Arial"/>
                <a:cs typeface="Arial"/>
                <a:sym typeface="Arial"/>
              </a:rPr>
            </a:b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Apoio a projetos ambientais locais.</a:t>
            </a:r>
            <a:br>
              <a:rPr lang="en" sz="1500" dirty="0">
                <a:latin typeface="Arial"/>
                <a:ea typeface="Arial"/>
                <a:cs typeface="Arial"/>
                <a:sym typeface="Arial"/>
              </a:rPr>
            </a:b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Medição da </a:t>
            </a:r>
            <a:r>
              <a:rPr lang="en" sz="1500" b="1" dirty="0">
                <a:latin typeface="Arial"/>
                <a:ea typeface="Arial"/>
                <a:cs typeface="Arial"/>
                <a:sym typeface="Arial"/>
              </a:rPr>
              <a:t>redução real de CO₂</a:t>
            </a: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 com feedback visual simples.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Google Shape;179;p20">
            <a:extLst>
              <a:ext uri="{FF2B5EF4-FFF2-40B4-BE49-F238E27FC236}">
                <a16:creationId xmlns:a16="http://schemas.microsoft.com/office/drawing/2014/main" id="{0BCA2F11-6BE2-EA0F-2373-28AE6EC83BD0}"/>
              </a:ext>
            </a:extLst>
          </p:cNvPr>
          <p:cNvSpPr txBox="1">
            <a:spLocks/>
          </p:cNvSpPr>
          <p:nvPr/>
        </p:nvSpPr>
        <p:spPr>
          <a:xfrm>
            <a:off x="505383" y="4229400"/>
            <a:ext cx="4066617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46050" indent="0">
              <a:buNone/>
            </a:pPr>
            <a:r>
              <a:rPr lang="pt-BR" sz="400" b="1" dirty="0"/>
              <a:t>3. Assistente Pessoal de Sustentabilidade (GreenAI)</a:t>
            </a:r>
          </a:p>
          <a:p>
            <a:pPr marL="146050" indent="0">
              <a:buFont typeface="Lato"/>
              <a:buNone/>
            </a:pPr>
            <a:endParaRPr lang="pt-BR" sz="400" b="1" dirty="0"/>
          </a:p>
          <a:p>
            <a:r>
              <a:rPr lang="pt-BR" sz="400" dirty="0"/>
              <a:t>Um assistente dentro da app que:</a:t>
            </a:r>
          </a:p>
          <a:p>
            <a:r>
              <a:rPr lang="pt-BR" sz="400" dirty="0"/>
              <a:t>Analisa os teus hábitos de mobilidade.</a:t>
            </a:r>
          </a:p>
          <a:p>
            <a:r>
              <a:rPr lang="pt-BR" sz="400" dirty="0"/>
              <a:t>Sugere rotas, horários e modos de transporte com </a:t>
            </a:r>
            <a:r>
              <a:rPr lang="pt-BR" sz="400" b="1" dirty="0"/>
              <a:t>menor impacto ambiental</a:t>
            </a:r>
            <a:r>
              <a:rPr lang="pt-BR" sz="400" dirty="0"/>
              <a:t>.</a:t>
            </a:r>
          </a:p>
          <a:p>
            <a:r>
              <a:rPr lang="pt-BR" sz="400" dirty="0"/>
              <a:t>Dá dicas personalizadas (ex.: “Se fores de bicicleta hoje, reduces 230g de CO₂”).</a:t>
            </a:r>
          </a:p>
          <a:p>
            <a:pPr marL="158750" indent="0">
              <a:buSzPts val="1100"/>
              <a:buFont typeface="Lato"/>
              <a:buNone/>
            </a:pPr>
            <a:endParaRPr lang="pt-BR" sz="11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pt-BR" dirty="0"/>
          </a:p>
        </p:txBody>
      </p:sp>
      <p:sp>
        <p:nvSpPr>
          <p:cNvPr id="3" name="Google Shape;173;p19">
            <a:extLst>
              <a:ext uri="{FF2B5EF4-FFF2-40B4-BE49-F238E27FC236}">
                <a16:creationId xmlns:a16="http://schemas.microsoft.com/office/drawing/2014/main" id="{703C460E-56F9-0A73-0DD6-CDB6CCB3E41B}"/>
              </a:ext>
            </a:extLst>
          </p:cNvPr>
          <p:cNvSpPr txBox="1">
            <a:spLocks/>
          </p:cNvSpPr>
          <p:nvPr/>
        </p:nvSpPr>
        <p:spPr>
          <a:xfrm>
            <a:off x="5262651" y="422940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3350" indent="0">
              <a:buSzPts val="1500"/>
              <a:buNone/>
            </a:pP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1. Personalização e Acessibilidade</a:t>
            </a:r>
          </a:p>
          <a:p>
            <a:pPr indent="-323850"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Perfis adaptáveis para: caminhantes, ciclistas e utilizadores de transportes sustentáveis.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indent="-323850"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Sugestões personalizadas de acordo com saúde, idade, objetivos e mobilidade.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indent="-323850"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Modo acessível para utilizadores com diferentes necessidades.</a:t>
            </a:r>
          </a:p>
          <a:p>
            <a:pPr marL="0" indent="0">
              <a:spcBef>
                <a:spcPts val="1200"/>
              </a:spcBef>
              <a:buFont typeface="Lato"/>
              <a:buNone/>
            </a:pPr>
            <a:endParaRPr lang="pt-BR" sz="400" b="1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0D57F50B-1515-5A9E-C4A2-AF32C700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>
            <a:extLst>
              <a:ext uri="{FF2B5EF4-FFF2-40B4-BE49-F238E27FC236}">
                <a16:creationId xmlns:a16="http://schemas.microsoft.com/office/drawing/2014/main" id="{DE8CC7C7-756C-8C24-A0C4-ABD079BC8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Visão Futura</a:t>
            </a:r>
            <a:endParaRPr/>
          </a:p>
        </p:txBody>
      </p:sp>
      <p:sp>
        <p:nvSpPr>
          <p:cNvPr id="179" name="Google Shape;179;p20">
            <a:extLst>
              <a:ext uri="{FF2B5EF4-FFF2-40B4-BE49-F238E27FC236}">
                <a16:creationId xmlns:a16="http://schemas.microsoft.com/office/drawing/2014/main" id="{E98C480D-7579-BE56-B9E0-4BB52923A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925" y="14767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8950" indent="-342900">
              <a:buAutoNum type="arabicPeriod" startAt="3"/>
            </a:pPr>
            <a:r>
              <a:rPr lang="pt-BR" sz="1600" b="1" dirty="0"/>
              <a:t>Assistente Pessoal de Sustentabilidade (GreenAI)</a:t>
            </a:r>
          </a:p>
          <a:p>
            <a:pPr marL="146050" indent="0">
              <a:buNone/>
            </a:pPr>
            <a:endParaRPr lang="pt-BR" sz="1600" b="1" dirty="0"/>
          </a:p>
          <a:p>
            <a:r>
              <a:rPr lang="pt-BR" sz="1600" dirty="0"/>
              <a:t>Um assistente dentro da app que:</a:t>
            </a:r>
          </a:p>
          <a:p>
            <a:r>
              <a:rPr lang="pt-BR" sz="1600" dirty="0"/>
              <a:t>Analisa os teus hábitos de mobilidade.</a:t>
            </a:r>
          </a:p>
          <a:p>
            <a:r>
              <a:rPr lang="pt-BR" sz="1600" dirty="0"/>
              <a:t>Sugere rotas, horários e modos de transporte com </a:t>
            </a:r>
            <a:r>
              <a:rPr lang="pt-BR" sz="1600" b="1" dirty="0"/>
              <a:t>menor impacto ambiental</a:t>
            </a:r>
            <a:r>
              <a:rPr lang="pt-BR" sz="1600" dirty="0"/>
              <a:t>.</a:t>
            </a:r>
          </a:p>
          <a:p>
            <a:r>
              <a:rPr lang="pt-BR" sz="1600" dirty="0"/>
              <a:t>Dá dicas personalizadas (ex.: “Se fores de bicicleta hoje, reduces 230g de CO₂”).</a:t>
            </a: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Google Shape;179;p20">
            <a:extLst>
              <a:ext uri="{FF2B5EF4-FFF2-40B4-BE49-F238E27FC236}">
                <a16:creationId xmlns:a16="http://schemas.microsoft.com/office/drawing/2014/main" id="{0312F03D-B1D9-7691-9C70-1F3E97E3D6A0}"/>
              </a:ext>
            </a:extLst>
          </p:cNvPr>
          <p:cNvSpPr txBox="1">
            <a:spLocks/>
          </p:cNvSpPr>
          <p:nvPr/>
        </p:nvSpPr>
        <p:spPr>
          <a:xfrm>
            <a:off x="5344632" y="4068640"/>
            <a:ext cx="3126323" cy="175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2.     Sustentabilidade Real: Impacto no Mundo</a:t>
            </a:r>
          </a:p>
          <a:p>
            <a:pPr indent="-323850">
              <a:spcBef>
                <a:spcPts val="1200"/>
              </a:spcBef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Cada conquista ou objetivo cumprido pode converter-se em </a:t>
            </a: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pontos verdes</a:t>
            </a: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, que podem ser usados para: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lvl="1" indent="-323850">
              <a:buSzPts val="1500"/>
              <a:buFont typeface="Arial"/>
              <a:buChar char="○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Plantação automática de árvores através de ONGs parceiras.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lvl="1" indent="-323850">
              <a:buSzPts val="1500"/>
              <a:buFont typeface="Arial"/>
              <a:buChar char="○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Apoio a projetos ambientais locais.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indent="-298450">
              <a:buSzPts val="11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Medição da </a:t>
            </a: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redução real de CO₂</a:t>
            </a: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 com feedback visual simples.</a:t>
            </a:r>
            <a:br>
              <a:rPr lang="pt-BR" sz="800" dirty="0">
                <a:latin typeface="Arial"/>
                <a:ea typeface="Arial"/>
                <a:cs typeface="Arial"/>
                <a:sym typeface="Arial"/>
              </a:rPr>
            </a:br>
            <a:endParaRPr lang="pt-BR" sz="8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pt-BR" dirty="0"/>
          </a:p>
        </p:txBody>
      </p:sp>
      <p:sp>
        <p:nvSpPr>
          <p:cNvPr id="3" name="Google Shape;173;p19">
            <a:extLst>
              <a:ext uri="{FF2B5EF4-FFF2-40B4-BE49-F238E27FC236}">
                <a16:creationId xmlns:a16="http://schemas.microsoft.com/office/drawing/2014/main" id="{0D0F4785-98E4-C5A8-8DF2-5C2A692F8EE9}"/>
              </a:ext>
            </a:extLst>
          </p:cNvPr>
          <p:cNvSpPr txBox="1">
            <a:spLocks/>
          </p:cNvSpPr>
          <p:nvPr/>
        </p:nvSpPr>
        <p:spPr>
          <a:xfrm>
            <a:off x="244444" y="406864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3350" indent="0">
              <a:buSzPts val="1500"/>
              <a:buNone/>
            </a:pPr>
            <a:r>
              <a:rPr lang="pt-BR" sz="400" b="1" dirty="0">
                <a:latin typeface="Arial"/>
                <a:ea typeface="Arial"/>
                <a:cs typeface="Arial"/>
                <a:sym typeface="Arial"/>
              </a:rPr>
              <a:t>1. Personalização e Acessibilidade</a:t>
            </a:r>
          </a:p>
          <a:p>
            <a:pPr indent="-323850"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Perfis adaptáveis para: caminhantes, ciclistas e utilizadores de transportes sustentáveis.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indent="-323850"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Sugestões personalizadas de acordo com saúde, idade, objetivos e mobilidade.</a:t>
            </a:r>
            <a:br>
              <a:rPr lang="pt-BR" sz="400" dirty="0">
                <a:latin typeface="Arial"/>
                <a:ea typeface="Arial"/>
                <a:cs typeface="Arial"/>
                <a:sym typeface="Arial"/>
              </a:rPr>
            </a:br>
            <a:endParaRPr lang="pt-BR" sz="400" dirty="0">
              <a:latin typeface="Arial"/>
              <a:ea typeface="Arial"/>
              <a:cs typeface="Arial"/>
              <a:sym typeface="Arial"/>
            </a:endParaRPr>
          </a:p>
          <a:p>
            <a:pPr indent="-323850">
              <a:buSzPts val="1500"/>
              <a:buFont typeface="Arial"/>
              <a:buChar char="●"/>
            </a:pPr>
            <a:r>
              <a:rPr lang="pt-BR" sz="400" dirty="0">
                <a:latin typeface="Arial"/>
                <a:ea typeface="Arial"/>
                <a:cs typeface="Arial"/>
                <a:sym typeface="Arial"/>
              </a:rPr>
              <a:t>Modo acessível para utilizadores com diferentes necessidades.</a:t>
            </a:r>
          </a:p>
          <a:p>
            <a:pPr marL="0" indent="0">
              <a:spcBef>
                <a:spcPts val="1200"/>
              </a:spcBef>
              <a:buFont typeface="Lato"/>
              <a:buNone/>
            </a:pPr>
            <a:endParaRPr lang="pt-BR" sz="400" b="1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482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CE7BF1-CDBE-850E-48AF-1A4538C1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>
            <a:extLst>
              <a:ext uri="{FF2B5EF4-FFF2-40B4-BE49-F238E27FC236}">
                <a16:creationId xmlns:a16="http://schemas.microsoft.com/office/drawing/2014/main" id="{D34BA8ED-AE91-D077-1141-AEAE377995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GreenWay</a:t>
            </a:r>
            <a:endParaRPr dirty="0"/>
          </a:p>
        </p:txBody>
      </p:sp>
      <p:sp>
        <p:nvSpPr>
          <p:cNvPr id="135" name="Google Shape;135;p13">
            <a:extLst>
              <a:ext uri="{FF2B5EF4-FFF2-40B4-BE49-F238E27FC236}">
                <a16:creationId xmlns:a16="http://schemas.microsoft.com/office/drawing/2014/main" id="{D6360CC2-6A32-B727-5849-A28E78B288D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Rodrigo Osório de Castro 56315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Martim Neto 56279</a:t>
            </a:r>
            <a:endParaRPr dirty="0"/>
          </a:p>
        </p:txBody>
      </p:sp>
      <p:pic>
        <p:nvPicPr>
          <p:cNvPr id="3" name="Imagem 2" descr="Uma imagem com Gráficos, design gráfico, design, arte&#10;&#10;Os conteúdos gerados por IA podem estar incorretos.">
            <a:extLst>
              <a:ext uri="{FF2B5EF4-FFF2-40B4-BE49-F238E27FC236}">
                <a16:creationId xmlns:a16="http://schemas.microsoft.com/office/drawing/2014/main" id="{BA6649AA-F850-BA2A-051E-5BC38F44C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05" y="395654"/>
            <a:ext cx="2558562" cy="2558562"/>
          </a:xfrm>
          <a:prstGeom prst="rect">
            <a:avLst/>
          </a:prstGeom>
        </p:spPr>
      </p:pic>
      <p:sp>
        <p:nvSpPr>
          <p:cNvPr id="2" name="Google Shape;134;p13">
            <a:extLst>
              <a:ext uri="{FF2B5EF4-FFF2-40B4-BE49-F238E27FC236}">
                <a16:creationId xmlns:a16="http://schemas.microsoft.com/office/drawing/2014/main" id="{7DE30C18-7ACC-1589-A09B-FD8A4B3658A4}"/>
              </a:ext>
            </a:extLst>
          </p:cNvPr>
          <p:cNvSpPr txBox="1">
            <a:spLocks/>
          </p:cNvSpPr>
          <p:nvPr/>
        </p:nvSpPr>
        <p:spPr>
          <a:xfrm>
            <a:off x="3236479" y="1574185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/>
              <a:t>Obrigado pela </a:t>
            </a:r>
            <a:r>
              <a:rPr lang="en-US" dirty="0" err="1"/>
              <a:t>atenção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59418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1011C41F-A612-14C6-680C-D864E350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>
            <a:extLst>
              <a:ext uri="{FF2B5EF4-FFF2-40B4-BE49-F238E27FC236}">
                <a16:creationId xmlns:a16="http://schemas.microsoft.com/office/drawing/2014/main" id="{55EF3D3A-54D1-A1F0-A3C0-FD2D761DCD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Obrigado pela </a:t>
            </a:r>
            <a:r>
              <a:rPr lang="en-US" dirty="0" err="1"/>
              <a:t>atenção</a:t>
            </a:r>
            <a:endParaRPr dirty="0"/>
          </a:p>
        </p:txBody>
      </p:sp>
      <p:sp>
        <p:nvSpPr>
          <p:cNvPr id="135" name="Google Shape;135;p13">
            <a:extLst>
              <a:ext uri="{FF2B5EF4-FFF2-40B4-BE49-F238E27FC236}">
                <a16:creationId xmlns:a16="http://schemas.microsoft.com/office/drawing/2014/main" id="{952214E5-0053-666C-0B84-8ECDC51F7A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Rodrigo Osório de Castro 56315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Martim Neto 56279</a:t>
            </a:r>
            <a:endParaRPr dirty="0"/>
          </a:p>
        </p:txBody>
      </p:sp>
      <p:pic>
        <p:nvPicPr>
          <p:cNvPr id="3" name="Imagem 2" descr="Uma imagem com Gráficos, design gráfico, design, arte&#10;&#10;Os conteúdos gerados por IA podem estar incorretos.">
            <a:extLst>
              <a:ext uri="{FF2B5EF4-FFF2-40B4-BE49-F238E27FC236}">
                <a16:creationId xmlns:a16="http://schemas.microsoft.com/office/drawing/2014/main" id="{26A4EF93-EF5F-911E-E14C-2B7957686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9" y="-2511046"/>
            <a:ext cx="9108832" cy="9108832"/>
          </a:xfrm>
          <a:prstGeom prst="rect">
            <a:avLst/>
          </a:prstGeom>
        </p:spPr>
      </p:pic>
      <p:pic>
        <p:nvPicPr>
          <p:cNvPr id="4" name="Imagem 3" descr="Uma imagem com desenho, clipart&#10;&#10;Os conteúdos gerados por IA podem estar incorretos.">
            <a:extLst>
              <a:ext uri="{FF2B5EF4-FFF2-40B4-BE49-F238E27FC236}">
                <a16:creationId xmlns:a16="http://schemas.microsoft.com/office/drawing/2014/main" id="{0680534E-077F-12D2-A082-E1E3A0734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141" y="4170618"/>
            <a:ext cx="972882" cy="972882"/>
          </a:xfrm>
          <a:prstGeom prst="rect">
            <a:avLst/>
          </a:prstGeom>
        </p:spPr>
      </p:pic>
      <p:pic>
        <p:nvPicPr>
          <p:cNvPr id="10" name="Imagem 9" descr="Uma imagem com preto, escuridão&#10;&#10;Os conteúdos gerados por IA podem estar incorretos.">
            <a:extLst>
              <a:ext uri="{FF2B5EF4-FFF2-40B4-BE49-F238E27FC236}">
                <a16:creationId xmlns:a16="http://schemas.microsoft.com/office/drawing/2014/main" id="{FE70883D-C4EA-A496-A7D3-3B1475329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333" y="684694"/>
            <a:ext cx="823368" cy="8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56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594</Words>
  <Application>Microsoft Office PowerPoint</Application>
  <PresentationFormat>Apresentação no Ecrã (16:9)</PresentationFormat>
  <Paragraphs>80</Paragraphs>
  <Slides>13</Slides>
  <Notes>13</Notes>
  <HiddenSlides>0</HiddenSlides>
  <MMClips>2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Lato</vt:lpstr>
      <vt:lpstr>Focus</vt:lpstr>
      <vt:lpstr>Apresentação do PowerPoint</vt:lpstr>
      <vt:lpstr>GreenWay</vt:lpstr>
      <vt:lpstr>Tarefas Iniciais</vt:lpstr>
      <vt:lpstr>Prototipo de Baixa Fidelidade</vt:lpstr>
      <vt:lpstr>Prototipo Funcional 1</vt:lpstr>
      <vt:lpstr>Prototipo Funcional 1</vt:lpstr>
      <vt:lpstr>Novas Tarefas</vt:lpstr>
      <vt:lpstr>Prototipo Funcional Final</vt:lpstr>
      <vt:lpstr>Visão Futura</vt:lpstr>
      <vt:lpstr>Visão Futura</vt:lpstr>
      <vt:lpstr>Visão Futura</vt:lpstr>
      <vt:lpstr>GreenWay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fc56315</cp:lastModifiedBy>
  <cp:revision>2</cp:revision>
  <dcterms:modified xsi:type="dcterms:W3CDTF">2025-11-19T00:45:52Z</dcterms:modified>
</cp:coreProperties>
</file>